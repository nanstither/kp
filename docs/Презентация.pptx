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88" r:id="rId5"/>
    <p:sldId id="290" r:id="rId6"/>
    <p:sldId id="292" r:id="rId7"/>
    <p:sldId id="296" r:id="rId8"/>
    <p:sldId id="297" r:id="rId9"/>
    <p:sldId id="298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>
        <p:scale>
          <a:sx n="100" d="100"/>
          <a:sy n="100" d="100"/>
        </p:scale>
        <p:origin x="990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05E01F-AE22-4AB5-BF6C-3630D9D480C8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AFA096-6335-42E0-85AD-FBE3A8C3BE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0097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слайде представлены инструментальные средства для разработки программного продукта, </a:t>
            </a:r>
          </a:p>
          <a:p>
            <a:pPr lvl="0"/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архитектура ...... (клиент-серверная; )</a:t>
            </a:r>
          </a:p>
          <a:p>
            <a:pPr lvl="0"/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стороне клиента использовалось веб инструменты: …..</a:t>
            </a: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стороне сервера использовалось: …… </a:t>
            </a: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этапе проектирования….. Использовались …. Для…….. </a:t>
            </a: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ИЛИ ПРОСТО ПЕРЕЧИСЛИТЬ</a:t>
            </a:r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F4460-6503-445B-8A56-0254AB65E7A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098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этапе проектирования базы данных, была построена ER-модель базы данных ……., которая содержит …..  таблиц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F4460-6503-445B-8A56-0254AB65E7A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8902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процессе проектирования построена схема навигации, которая представлена на слайде.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F4460-6503-445B-8A56-0254AB65E7A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9061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Демонстрация программного продукта</a:t>
            </a:r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При работе выделены … (количество)  ролей, (назвать кто ) ….</a:t>
            </a:r>
          </a:p>
          <a:p>
            <a:r>
              <a:rPr lang="ru-RU" dirty="0"/>
              <a:t> </a:t>
            </a:r>
          </a:p>
          <a:p>
            <a:endParaRPr lang="ru-RU" dirty="0"/>
          </a:p>
          <a:p>
            <a:r>
              <a:rPr lang="ru-RU" dirty="0"/>
              <a:t>демонстрируем под заявленный функционал каждой роли (открыть в разных браузерах заранее)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F4460-6503-445B-8A56-0254AB65E7A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7298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F4460-6503-445B-8A56-0254AB65E7A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7542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66C57-17C5-A07E-92A8-4F98490C6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7BEB63F-7479-1233-341D-C5036850BB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CE31D5D-3AEC-DDDA-B569-519BCD2D53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Демонстрация программного продукта</a:t>
            </a:r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При работе выделены … (количество)  ролей, (назвать кто ) ….</a:t>
            </a:r>
          </a:p>
          <a:p>
            <a:r>
              <a:rPr lang="ru-RU" dirty="0"/>
              <a:t> </a:t>
            </a:r>
          </a:p>
          <a:p>
            <a:endParaRPr lang="ru-RU" dirty="0"/>
          </a:p>
          <a:p>
            <a:r>
              <a:rPr lang="ru-RU" dirty="0"/>
              <a:t>демонстрируем под заявленный функционал каждой роли (открыть в разных браузерах заранее)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015DD32-2B54-0F11-34F2-71A3FA8722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F4460-6503-445B-8A56-0254AB65E7A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0991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A00B79-CB3E-4C44-BEE2-50A328DCA5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EB4BABC-BF99-4096-ABC1-F49F9E427E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7FAA35C-5615-42C7-85A5-A71DA1B79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B7C23-9372-4995-BB42-8A8D93336655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D75DA4A-8773-4CB0-8EC2-46E942D14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215DA4-F707-4E58-92C5-03E5720C2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4E6BD-ACF8-4AC2-83CC-3534B98CA8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1761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840393-EE78-4D28-9BEA-65D9FE215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28F6086-1C64-4F5E-90A7-F2C7536AC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A79360F-FAF7-40F8-931C-0C4342456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B7C23-9372-4995-BB42-8A8D93336655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9C3B3C1-6EDD-4827-9D51-2A12FB131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5B7D29B-9581-416F-9466-DA820BDC5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4E6BD-ACF8-4AC2-83CC-3534B98CA8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3101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B89CF5-E509-4DD2-9D14-3D9676803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64F57A3-FAB4-40D5-B708-491B4A4942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A5A35A5-ED0B-474E-A35F-870C0D775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B7C23-9372-4995-BB42-8A8D93336655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8808B5C-E189-4F84-A517-6CA43B12D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B24499D-BD3B-4152-9F91-C35E1D4D9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4E6BD-ACF8-4AC2-83CC-3534B98CA8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2668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FE4949-F681-4702-8608-AD4500F53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8D575EA-2702-40ED-8B8B-751A02571B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D0D5807-B6EC-4802-B456-B57E0DDEA7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52DA019-38DE-4C08-9993-B3AB5F603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B7C23-9372-4995-BB42-8A8D93336655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3215458-C624-45E4-807C-C455EFE3F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DEFA9E4-E10C-461B-93FB-3E33E51F6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4E6BD-ACF8-4AC2-83CC-3534B98CA8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849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79C37F-8E41-4C8C-998F-7FF5D8188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8A1F55D-3CCA-41C5-AEF1-4D96F97346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1141474-7721-488E-82E7-79D0765155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09E7E68-FEC4-4797-9561-232140B98B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5D055FB-08B6-4BE3-8EBF-EDE0003099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5FD6B9F-3903-4979-8167-E70F8C2CE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B7C23-9372-4995-BB42-8A8D93336655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CC63686-D1FD-4F49-9684-04CAF39BB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9F44163-FA0F-4251-8AA8-696345370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4E6BD-ACF8-4AC2-83CC-3534B98CA8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5838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44E2E8-B3F3-4E26-AEFB-D99DA4568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84C9798-ADC1-47D3-B935-6E76B57F9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B7C23-9372-4995-BB42-8A8D93336655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C893FE7-7B5E-4BFB-B8A3-FFFF6DD95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718F284-35B6-47AB-B458-B7808E487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4E6BD-ACF8-4AC2-83CC-3534B98CA8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9260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F2E3557-BD4C-4DDC-A783-365D5DD84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B7C23-9372-4995-BB42-8A8D93336655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089A366-2ABA-4C9D-81B5-98A7C6EFC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7207D7A-4963-4A6E-BFED-CBA7201AF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4E6BD-ACF8-4AC2-83CC-3534B98CA8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2778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6CD176-F493-4242-8A54-8504229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949D315-3EA2-4074-9223-25A77980F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2F15049-1725-4786-B95E-819A12F280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E34F0C2-D78F-4863-BFB7-87468B60E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B7C23-9372-4995-BB42-8A8D93336655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E44C47D-2651-4EEC-8B09-3DD583B83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AB80EAD-3CE6-4AC6-BDF9-098718BCA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4E6BD-ACF8-4AC2-83CC-3534B98CA8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5638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4A6DDD-8F8E-4399-8813-9E4EEAE27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BF46FFC-D930-4486-948D-82CE5DB3B7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356B4C3-FF51-42CA-9FF5-9209381E27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F8B1D1F-6517-460F-AC74-95357EF82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B7C23-9372-4995-BB42-8A8D93336655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61DE1F1-05CA-4401-92F4-98FE8A55E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B844E1C-21F7-4187-A6F1-444BFF159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4E6BD-ACF8-4AC2-83CC-3534B98CA8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3635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35ACA9-B777-416D-84BC-18666D866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0E32FEF-BE34-4043-9846-EC26A819B4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581A326-B796-45F5-9308-D2B93E762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B7C23-9372-4995-BB42-8A8D93336655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770A263-82EC-45C7-910A-5EB29D033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3C14F68-E590-499F-9619-868CB91C2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4E6BD-ACF8-4AC2-83CC-3534B98CA8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0859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B74FDFE-0672-4350-995A-AE8E15A32A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519E937-5794-43E4-9B9B-650205BD9F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6540DD7-8E20-4876-A928-03BC59014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B7C23-9372-4995-BB42-8A8D93336655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5599B5D-7321-4BF7-BDA2-34EB157D1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040EBA1-012B-47EE-B830-96FAE54AA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4E6BD-ACF8-4AC2-83CC-3534B98CA8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10590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A723B-5719-4EEA-B777-EAF3DA7FDF21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4A5C1-EBA6-4D9B-83CC-431CB510693B}" type="slidenum">
              <a:rPr lang="ru-RU" smtClean="0"/>
              <a:t>‹#›</a:t>
            </a:fld>
            <a:endParaRPr lang="ru-RU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524000" y="731520"/>
            <a:ext cx="8534400" cy="347472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706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D8D442-C1A5-4359-BBCD-F81E17194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CEF2894-59FF-41BA-A5BF-8B4B7EB5B0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D30B0A4-0523-4E92-A810-6368E016CD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CB7C23-9372-4995-BB42-8A8D93336655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DB2D891-28FA-46A7-91DF-A55AE2A6DD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FC4E653-E33B-4D2D-9D51-67693CBD53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14E6BD-ACF8-4AC2-83CC-3534B98CA8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6741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microsoft.com/office/2007/relationships/hdphoto" Target="../media/hdphoto1.wdp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D39BD7F8-2902-4BB2-974E-36D44A5AACE0}"/>
              </a:ext>
            </a:extLst>
          </p:cNvPr>
          <p:cNvSpPr txBox="1">
            <a:spLocks/>
          </p:cNvSpPr>
          <p:nvPr/>
        </p:nvSpPr>
        <p:spPr>
          <a:xfrm>
            <a:off x="1569091" y="2166319"/>
            <a:ext cx="9053817" cy="22331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2880"/>
            <a:r>
              <a:rPr lang="ru-RU" sz="4400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Курсовой проект </a:t>
            </a:r>
            <a:endParaRPr lang="ru-RU" sz="140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2880"/>
            <a:endParaRPr lang="ru-RU" sz="440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2880"/>
            <a:r>
              <a:rPr lang="ru-RU" sz="3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ИНТЕРНЕТ-МАГАЗИН «ПК»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6C89E7-E80A-450A-86D8-0F41D39D59D8}"/>
              </a:ext>
            </a:extLst>
          </p:cNvPr>
          <p:cNvSpPr txBox="1"/>
          <p:nvPr/>
        </p:nvSpPr>
        <p:spPr>
          <a:xfrm>
            <a:off x="3273112" y="328071"/>
            <a:ext cx="564577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Министерство образования Иркутской области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Государственное бюджетное профессиональное </a:t>
            </a:r>
          </a:p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образовательное учреждение Иркутской области</a:t>
            </a:r>
          </a:p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«Иркутский авиационный техникум»</a:t>
            </a:r>
          </a:p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(ГБПОУИО «ИАТ»)</a:t>
            </a:r>
          </a:p>
          <a:p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148771-E81A-4A34-BB9E-4CB8C0469957}"/>
              </a:ext>
            </a:extLst>
          </p:cNvPr>
          <p:cNvSpPr txBox="1"/>
          <p:nvPr/>
        </p:nvSpPr>
        <p:spPr>
          <a:xfrm>
            <a:off x="6426200" y="4910703"/>
            <a:ext cx="55839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Выполнил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Попов Егор Анатольевич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Группа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ВЕБ-23-1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Руководитель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Огородникова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Наталья Романовна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774321-5A79-4D42-95EC-54036253A4D6}"/>
              </a:ext>
            </a:extLst>
          </p:cNvPr>
          <p:cNvSpPr txBox="1"/>
          <p:nvPr/>
        </p:nvSpPr>
        <p:spPr>
          <a:xfrm>
            <a:off x="9731159" y="559901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F78048-CE0D-4D23-A06D-A774D10149C5}"/>
              </a:ext>
            </a:extLst>
          </p:cNvPr>
          <p:cNvSpPr txBox="1"/>
          <p:nvPr/>
        </p:nvSpPr>
        <p:spPr>
          <a:xfrm>
            <a:off x="5356310" y="6345263"/>
            <a:ext cx="159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Иркутск 2026</a:t>
            </a:r>
          </a:p>
        </p:txBody>
      </p:sp>
    </p:spTree>
    <p:extLst>
      <p:ext uri="{BB962C8B-B14F-4D97-AF65-F5344CB8AC3E}">
        <p14:creationId xmlns:p14="http://schemas.microsoft.com/office/powerpoint/2010/main" val="212980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4">
            <a:extLst>
              <a:ext uri="{FF2B5EF4-FFF2-40B4-BE49-F238E27FC236}">
                <a16:creationId xmlns:a16="http://schemas.microsoft.com/office/drawing/2014/main" id="{92A40BFA-0701-43F8-AF3F-9918CFED335B}"/>
              </a:ext>
            </a:extLst>
          </p:cNvPr>
          <p:cNvSpPr txBox="1">
            <a:spLocks/>
          </p:cNvSpPr>
          <p:nvPr/>
        </p:nvSpPr>
        <p:spPr>
          <a:xfrm>
            <a:off x="2124015" y="318649"/>
            <a:ext cx="8634849" cy="7694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Цель</a:t>
            </a:r>
            <a:r>
              <a:rPr lang="en-US" sz="3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3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задачи курсового проектирования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8A0030A6-68A7-47D0-BFE9-A66C4A113035}"/>
              </a:ext>
            </a:extLst>
          </p:cNvPr>
          <p:cNvSpPr txBox="1">
            <a:spLocks/>
          </p:cNvSpPr>
          <p:nvPr/>
        </p:nvSpPr>
        <p:spPr>
          <a:xfrm>
            <a:off x="364880" y="1305623"/>
            <a:ext cx="11500135" cy="441300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0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Цель курсового проектирования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проектирование и разработка веб-приложения интернет-магазина компьютерных комплектующих и готовых ПК, предназначенного для автоматизации процессов продажи товаров, управления ассортиментом, оформления заказов и повышения удобства подбора совместимых комплектующих с помощью онлайн-конфигуратора.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0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ru-RU" sz="20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Задачи курсового проектирования</a:t>
            </a:r>
            <a:r>
              <a:rPr lang="en-US" sz="20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514350" lvl="0" indent="-514350">
              <a:buFont typeface="+mj-lt"/>
              <a:buAutoNum type="arabicParenR"/>
            </a:pPr>
            <a:r>
              <a:rPr lang="ru-RU" sz="2400" dirty="0"/>
              <a:t>Провести предпроектное исследование.</a:t>
            </a:r>
          </a:p>
          <a:p>
            <a:pPr marL="514350" lvl="0" indent="-514350">
              <a:buFont typeface="+mj-lt"/>
              <a:buAutoNum type="arabicParenR"/>
            </a:pPr>
            <a:r>
              <a:rPr lang="ru-RU" sz="2400" dirty="0"/>
              <a:t>Составить техническое задание.</a:t>
            </a:r>
          </a:p>
          <a:p>
            <a:pPr marL="514350" indent="-514350">
              <a:buFont typeface="+mj-lt"/>
              <a:buAutoNum type="arabicParenR"/>
            </a:pPr>
            <a:r>
              <a:rPr lang="ru-RU" sz="2400" dirty="0"/>
              <a:t>Спроектировать архитектуру (SPA) и реляционную базу данных.</a:t>
            </a:r>
          </a:p>
          <a:p>
            <a:pPr marL="514350" lvl="0" indent="-514350">
              <a:buFont typeface="+mj-lt"/>
              <a:buAutoNum type="arabicParenR"/>
            </a:pPr>
            <a:r>
              <a:rPr lang="ru-RU" sz="2400" dirty="0"/>
              <a:t>Разработать веб-приложение.</a:t>
            </a:r>
          </a:p>
          <a:p>
            <a:pPr marL="514350" lvl="0" indent="-514350">
              <a:buFont typeface="+mj-lt"/>
              <a:buAutoNum type="arabicParenR"/>
            </a:pPr>
            <a:r>
              <a:rPr lang="ru-RU" sz="2400" dirty="0"/>
              <a:t>Оформить технологическую документацию.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356869-D6DB-43B7-973E-DEAABEE5F59B}"/>
              </a:ext>
            </a:extLst>
          </p:cNvPr>
          <p:cNvSpPr txBox="1"/>
          <p:nvPr/>
        </p:nvSpPr>
        <p:spPr>
          <a:xfrm>
            <a:off x="11388491" y="6277293"/>
            <a:ext cx="545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accent1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014886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4">
            <a:extLst>
              <a:ext uri="{FF2B5EF4-FFF2-40B4-BE49-F238E27FC236}">
                <a16:creationId xmlns:a16="http://schemas.microsoft.com/office/drawing/2014/main" id="{C323F897-A17F-4F55-99E6-5F0A74A89A99}"/>
              </a:ext>
            </a:extLst>
          </p:cNvPr>
          <p:cNvSpPr txBox="1">
            <a:spLocks/>
          </p:cNvSpPr>
          <p:nvPr/>
        </p:nvSpPr>
        <p:spPr>
          <a:xfrm>
            <a:off x="1824107" y="382680"/>
            <a:ext cx="8543785" cy="9256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Предметная область курсового проекта</a:t>
            </a:r>
          </a:p>
        </p:txBody>
      </p:sp>
      <p:sp>
        <p:nvSpPr>
          <p:cNvPr id="11" name="Объект 2">
            <a:extLst>
              <a:ext uri="{FF2B5EF4-FFF2-40B4-BE49-F238E27FC236}">
                <a16:creationId xmlns:a16="http://schemas.microsoft.com/office/drawing/2014/main" id="{AA5DBE4A-6642-4F64-B9CC-A3A1045CC808}"/>
              </a:ext>
            </a:extLst>
          </p:cNvPr>
          <p:cNvSpPr txBox="1">
            <a:spLocks/>
          </p:cNvSpPr>
          <p:nvPr/>
        </p:nvSpPr>
        <p:spPr>
          <a:xfrm>
            <a:off x="416532" y="1717665"/>
            <a:ext cx="5823401" cy="421867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ru-RU" sz="2400" dirty="0"/>
              <a:t>Предметной областью данной работы является сфера электронной коммерции (B2C) – онлайн-продажа товаров категории «Персональные компьютеры».</a:t>
            </a:r>
          </a:p>
          <a:p>
            <a:pPr marL="0" indent="0">
              <a:buNone/>
            </a:pPr>
            <a:r>
              <a:rPr lang="ru-RU" sz="2400" dirty="0"/>
              <a:t> Разрабатываемый интернет-магазин призван автоматизировать ключевые бизнес-процессы, характерные для данной области, перенося их из физической среды в цифровую.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0774D7B-6261-42FF-BD99-5378A178B6C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097"/>
          <a:stretch/>
        </p:blipFill>
        <p:spPr>
          <a:xfrm>
            <a:off x="7431313" y="1717665"/>
            <a:ext cx="3974193" cy="3692145"/>
          </a:xfrm>
          <a:prstGeom prst="roundRect">
            <a:avLst>
              <a:gd name="adj" fmla="val 7204"/>
            </a:avLst>
          </a:prstGeom>
        </p:spPr>
      </p:pic>
    </p:spTree>
    <p:extLst>
      <p:ext uri="{BB962C8B-B14F-4D97-AF65-F5344CB8AC3E}">
        <p14:creationId xmlns:p14="http://schemas.microsoft.com/office/powerpoint/2010/main" val="1040078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4">
            <a:extLst>
              <a:ext uri="{FF2B5EF4-FFF2-40B4-BE49-F238E27FC236}">
                <a16:creationId xmlns:a16="http://schemas.microsoft.com/office/drawing/2014/main" id="{9CFF2710-5C29-443A-A696-F9786282AB5C}"/>
              </a:ext>
            </a:extLst>
          </p:cNvPr>
          <p:cNvSpPr txBox="1">
            <a:spLocks/>
          </p:cNvSpPr>
          <p:nvPr/>
        </p:nvSpPr>
        <p:spPr>
          <a:xfrm>
            <a:off x="1752468" y="47629"/>
            <a:ext cx="9282022" cy="10082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Инструментальные средства разработки</a:t>
            </a:r>
          </a:p>
        </p:txBody>
      </p:sp>
      <p:graphicFrame>
        <p:nvGraphicFramePr>
          <p:cNvPr id="2" name="Таблица 2">
            <a:extLst>
              <a:ext uri="{FF2B5EF4-FFF2-40B4-BE49-F238E27FC236}">
                <a16:creationId xmlns:a16="http://schemas.microsoft.com/office/drawing/2014/main" id="{B48BD70D-31AF-4588-958D-B470BEDBD8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2676872"/>
              </p:ext>
            </p:extLst>
          </p:nvPr>
        </p:nvGraphicFramePr>
        <p:xfrm>
          <a:off x="505326" y="988184"/>
          <a:ext cx="11141390" cy="543337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129807">
                  <a:extLst>
                    <a:ext uri="{9D8B030D-6E8A-4147-A177-3AD203B41FA5}">
                      <a16:colId xmlns:a16="http://schemas.microsoft.com/office/drawing/2014/main" val="489332136"/>
                    </a:ext>
                  </a:extLst>
                </a:gridCol>
                <a:gridCol w="3975467">
                  <a:extLst>
                    <a:ext uri="{9D8B030D-6E8A-4147-A177-3AD203B41FA5}">
                      <a16:colId xmlns:a16="http://schemas.microsoft.com/office/drawing/2014/main" val="699667990"/>
                    </a:ext>
                  </a:extLst>
                </a:gridCol>
                <a:gridCol w="3036116">
                  <a:extLst>
                    <a:ext uri="{9D8B030D-6E8A-4147-A177-3AD203B41FA5}">
                      <a16:colId xmlns:a16="http://schemas.microsoft.com/office/drawing/2014/main" val="359732992"/>
                    </a:ext>
                  </a:extLst>
                </a:gridCol>
              </a:tblGrid>
              <a:tr h="394189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Этап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Изображение (логотип)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Название инструмента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5068126"/>
                  </a:ext>
                </a:extLst>
              </a:tr>
              <a:tr h="767470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Функциональное 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проектирование программного продукта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draw.io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190659"/>
                  </a:ext>
                </a:extLst>
              </a:tr>
              <a:tr h="70137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Проектирование базы данных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MySQL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kern="120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Workbench</a:t>
                      </a:r>
                      <a:endParaRPr lang="ru-RU" sz="18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179013"/>
                  </a:ext>
                </a:extLst>
              </a:tr>
              <a:tr h="70137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Реализация базы данных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MySQL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1248937"/>
                  </a:ext>
                </a:extLst>
              </a:tr>
              <a:tr h="70137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Проектирование интерфейса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Figma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0060549"/>
                  </a:ext>
                </a:extLst>
              </a:tr>
              <a:tr h="764836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Реализация (среда разработки)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Visual Studio Code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8600580"/>
                  </a:ext>
                </a:extLst>
              </a:tr>
              <a:tr h="70137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Реализация (инструменты, языки)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PHP, JavaScript, HTML, CSS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050000"/>
                  </a:ext>
                </a:extLst>
              </a:tr>
              <a:tr h="7013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Разработка (фреймворки)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Laravel, Tailwind CSS, React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8350619"/>
                  </a:ext>
                </a:extLst>
              </a:tr>
            </a:tbl>
          </a:graphicData>
        </a:graphic>
      </p:graphicFrame>
      <p:sp>
        <p:nvSpPr>
          <p:cNvPr id="6" name="AutoShape 4" descr="Visual Studio Code Logo Vector SVG Icon - SVG Repo">
            <a:extLst>
              <a:ext uri="{FF2B5EF4-FFF2-40B4-BE49-F238E27FC236}">
                <a16:creationId xmlns:a16="http://schemas.microsoft.com/office/drawing/2014/main" id="{FD79F5A1-B225-4765-B243-43A7D0327C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1CF444B-5BC2-419D-85AC-7F8C28A447C8}"/>
              </a:ext>
            </a:extLst>
          </p:cNvPr>
          <p:cNvSpPr txBox="1"/>
          <p:nvPr/>
        </p:nvSpPr>
        <p:spPr>
          <a:xfrm>
            <a:off x="11646716" y="6421554"/>
            <a:ext cx="545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accent1"/>
                </a:solidFill>
              </a:rPr>
              <a:t>4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70FB558-34FC-BCEE-CDA2-9958E3096D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33" t="39222" r="29411" b="39263"/>
          <a:stretch>
            <a:fillRect/>
          </a:stretch>
        </p:blipFill>
        <p:spPr>
          <a:xfrm>
            <a:off x="5203903" y="1392043"/>
            <a:ext cx="2379152" cy="62763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3F1B114-7437-B1E2-E812-9D1BA7B71F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5275" b="96142" l="10000" r="90000">
                        <a14:foregroundMark x1="34375" y1="74815" x2="34375" y2="74815"/>
                        <a14:foregroundMark x1="41042" y1="73333" x2="41042" y2="73333"/>
                        <a14:foregroundMark x1="36250" y1="89630" x2="36250" y2="89630"/>
                        <a14:foregroundMark x1="35625" y1="92963" x2="35625" y2="92963"/>
                        <a14:foregroundMark x1="38125" y1="92963" x2="38125" y2="92963"/>
                        <a14:foregroundMark x1="42917" y1="93333" x2="42917" y2="93333"/>
                        <a14:foregroundMark x1="45833" y1="92593" x2="45833" y2="92593"/>
                        <a14:foregroundMark x1="50000" y1="88889" x2="50000" y2="88889"/>
                        <a14:foregroundMark x1="54583" y1="91481" x2="54583" y2="91481"/>
                        <a14:foregroundMark x1="58958" y1="89630" x2="58958" y2="89630"/>
                        <a14:foregroundMark x1="63333" y1="91481" x2="63333" y2="91481"/>
                        <a14:foregroundMark x1="66875" y1="90741" x2="66875" y2="90741"/>
                        <a14:foregroundMark x1="64583" y1="74815" x2="64583" y2="7481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61417"/>
          <a:stretch>
            <a:fillRect/>
          </a:stretch>
        </p:blipFill>
        <p:spPr>
          <a:xfrm>
            <a:off x="5358060" y="2231935"/>
            <a:ext cx="2628824" cy="57052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D1E5C05-70D6-430A-DF26-07B709029E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5529" y="2726530"/>
            <a:ext cx="1457855" cy="807748"/>
          </a:xfrm>
          <a:prstGeom prst="rect">
            <a:avLst/>
          </a:prstGeom>
        </p:spPr>
      </p:pic>
      <p:pic>
        <p:nvPicPr>
          <p:cNvPr id="11" name="Рисунок 10" descr="Picture background">
            <a:extLst>
              <a:ext uri="{FF2B5EF4-FFF2-40B4-BE49-F238E27FC236}">
                <a16:creationId xmlns:a16="http://schemas.microsoft.com/office/drawing/2014/main" id="{44DAB7DB-6B1B-356B-AD28-1817127181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16776" y="3631915"/>
            <a:ext cx="1782721" cy="491318"/>
          </a:xfrm>
          <a:prstGeom prst="rect">
            <a:avLst/>
          </a:prstGeom>
        </p:spPr>
      </p:pic>
      <p:pic>
        <p:nvPicPr>
          <p:cNvPr id="12" name="Picture 7">
            <a:extLst>
              <a:ext uri="{FF2B5EF4-FFF2-40B4-BE49-F238E27FC236}">
                <a16:creationId xmlns:a16="http://schemas.microsoft.com/office/drawing/2014/main" id="{49EFB1B0-F9CC-F761-D403-C43A5D29B9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4370457"/>
            <a:ext cx="519475" cy="519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Рисунок 12" descr="Picture background">
            <a:extLst>
              <a:ext uri="{FF2B5EF4-FFF2-40B4-BE49-F238E27FC236}">
                <a16:creationId xmlns:a16="http://schemas.microsoft.com/office/drawing/2014/main" id="{4290786C-F10A-ACF1-D0F2-2DD661ED5AD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44070" y="5060160"/>
            <a:ext cx="1149715" cy="620367"/>
          </a:xfrm>
          <a:prstGeom prst="rect">
            <a:avLst/>
          </a:prstGeom>
        </p:spPr>
      </p:pic>
      <p:pic>
        <p:nvPicPr>
          <p:cNvPr id="14" name="Рисунок 13" descr="Picture background">
            <a:extLst>
              <a:ext uri="{FF2B5EF4-FFF2-40B4-BE49-F238E27FC236}">
                <a16:creationId xmlns:a16="http://schemas.microsoft.com/office/drawing/2014/main" id="{8D49F88F-1942-F74F-573D-014FD33FB28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56700" y="4961993"/>
            <a:ext cx="582565" cy="725432"/>
          </a:xfrm>
          <a:prstGeom prst="rect">
            <a:avLst/>
          </a:prstGeom>
        </p:spPr>
      </p:pic>
      <p:pic>
        <p:nvPicPr>
          <p:cNvPr id="16" name="Рисунок 15" descr="Picture background">
            <a:extLst>
              <a:ext uri="{FF2B5EF4-FFF2-40B4-BE49-F238E27FC236}">
                <a16:creationId xmlns:a16="http://schemas.microsoft.com/office/drawing/2014/main" id="{A3A6623C-32EE-5053-EC0D-7EE6E22E2A58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14515"/>
          <a:stretch>
            <a:fillRect/>
          </a:stretch>
        </p:blipFill>
        <p:spPr>
          <a:xfrm>
            <a:off x="6640939" y="4977361"/>
            <a:ext cx="848605" cy="725432"/>
          </a:xfrm>
          <a:prstGeom prst="rect">
            <a:avLst/>
          </a:prstGeom>
        </p:spPr>
      </p:pic>
      <p:pic>
        <p:nvPicPr>
          <p:cNvPr id="20" name="Рисунок 19" descr="Picture background">
            <a:extLst>
              <a:ext uri="{FF2B5EF4-FFF2-40B4-BE49-F238E27FC236}">
                <a16:creationId xmlns:a16="http://schemas.microsoft.com/office/drawing/2014/main" id="{850898AE-9071-0CA3-1708-356E4D4D839A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t="19232" b="1"/>
          <a:stretch>
            <a:fillRect/>
          </a:stretch>
        </p:blipFill>
        <p:spPr>
          <a:xfrm>
            <a:off x="7380438" y="4999820"/>
            <a:ext cx="664187" cy="725061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A9CAB6D-40F7-42DA-8404-B3B9A21081B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08555" y="5756300"/>
            <a:ext cx="652080" cy="630344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30C17E1-75B1-48BD-BF7D-4C919167BE0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76021" y="5756300"/>
            <a:ext cx="1426873" cy="635082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051ACB5-EB56-4251-99D0-56CE56D513D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87364" y="5752304"/>
            <a:ext cx="1123311" cy="634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121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4">
            <a:extLst>
              <a:ext uri="{FF2B5EF4-FFF2-40B4-BE49-F238E27FC236}">
                <a16:creationId xmlns:a16="http://schemas.microsoft.com/office/drawing/2014/main" id="{21EA8F00-3DD0-4256-8C2D-D62221C45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3129" y="0"/>
            <a:ext cx="6399719" cy="74930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sz="3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Проектирование базы данных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35AB10-481D-490B-8F68-3E2ED02099F5}"/>
              </a:ext>
            </a:extLst>
          </p:cNvPr>
          <p:cNvSpPr txBox="1"/>
          <p:nvPr/>
        </p:nvSpPr>
        <p:spPr>
          <a:xfrm>
            <a:off x="11541379" y="6288656"/>
            <a:ext cx="545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accent1"/>
                </a:solidFill>
              </a:rPr>
              <a:t>5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98F5369-50CA-4725-A0EC-DB0EAF6314B4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155700" y="749300"/>
            <a:ext cx="9880600" cy="6045664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04169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4">
            <a:extLst>
              <a:ext uri="{FF2B5EF4-FFF2-40B4-BE49-F238E27FC236}">
                <a16:creationId xmlns:a16="http://schemas.microsoft.com/office/drawing/2014/main" id="{21EA8F00-3DD0-4256-8C2D-D62221C45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627" y="61095"/>
            <a:ext cx="10688128" cy="615063"/>
          </a:xfrm>
        </p:spPr>
        <p:txBody>
          <a:bodyPr>
            <a:noAutofit/>
          </a:bodyPr>
          <a:lstStyle/>
          <a:p>
            <a:pPr algn="ctr"/>
            <a:r>
              <a:rPr lang="ru-RU" sz="3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Проектирование схемы навигации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A88024-58AE-44C6-B20D-7F9EE8573855}"/>
              </a:ext>
            </a:extLst>
          </p:cNvPr>
          <p:cNvSpPr txBox="1"/>
          <p:nvPr/>
        </p:nvSpPr>
        <p:spPr>
          <a:xfrm>
            <a:off x="11500635" y="6326626"/>
            <a:ext cx="545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accent1"/>
                </a:solidFill>
              </a:rPr>
              <a:t>6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41DCDAC1-E1BF-4EE4-8F5E-517F04211AC9}"/>
              </a:ext>
            </a:extLst>
          </p:cNvPr>
          <p:cNvSpPr/>
          <p:nvPr/>
        </p:nvSpPr>
        <p:spPr>
          <a:xfrm>
            <a:off x="2720714" y="614734"/>
            <a:ext cx="69283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Схема навигации интернет магазина для сборки и продажи ПК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76FD7292-97CB-4CFC-A7B2-0D2D7D1A33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0675" y="1082424"/>
            <a:ext cx="9010650" cy="564431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759345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00BC0C-F276-4244-A7CD-BD0F4DCD9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350" y="2766218"/>
            <a:ext cx="11095299" cy="1325563"/>
          </a:xfrm>
        </p:spPr>
        <p:txBody>
          <a:bodyPr/>
          <a:lstStyle/>
          <a:p>
            <a:r>
              <a:rPr lang="ru-RU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Демонстрация программного продукта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FBD571-39F3-4865-BB27-AA37ACFF1329}"/>
              </a:ext>
            </a:extLst>
          </p:cNvPr>
          <p:cNvSpPr txBox="1"/>
          <p:nvPr/>
        </p:nvSpPr>
        <p:spPr>
          <a:xfrm>
            <a:off x="11541379" y="6288656"/>
            <a:ext cx="545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accent1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865398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4">
            <a:extLst>
              <a:ext uri="{FF2B5EF4-FFF2-40B4-BE49-F238E27FC236}">
                <a16:creationId xmlns:a16="http://schemas.microsoft.com/office/drawing/2014/main" id="{03DB970B-9C80-46DC-8E32-7C5FC8006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9260" y="212537"/>
            <a:ext cx="3643659" cy="11430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3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Вывод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02937D-A278-4C52-9A34-EB4FF55CE159}"/>
              </a:ext>
            </a:extLst>
          </p:cNvPr>
          <p:cNvSpPr txBox="1"/>
          <p:nvPr/>
        </p:nvSpPr>
        <p:spPr>
          <a:xfrm>
            <a:off x="11567585" y="6378763"/>
            <a:ext cx="545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>
                <a:solidFill>
                  <a:schemeClr val="accent1"/>
                </a:solidFill>
              </a:rPr>
              <a:t>8</a:t>
            </a:r>
            <a:endParaRPr lang="ru-RU" sz="2000" b="1" dirty="0">
              <a:solidFill>
                <a:schemeClr val="accent1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EFC5693-DAC9-4F1B-B5B2-453039B680B4}"/>
              </a:ext>
            </a:extLst>
          </p:cNvPr>
          <p:cNvSpPr/>
          <p:nvPr/>
        </p:nvSpPr>
        <p:spPr>
          <a:xfrm>
            <a:off x="1030514" y="1355537"/>
            <a:ext cx="10537071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Приложение обеспечивает удобное взаимодействие между покупателями и администрацией магазина: пользователи могут просматривать каталог, собирать ПК в конфигураторе с проверкой совместимости, оформлять заказы; администраторы и менеджеры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–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управлять товарами, заказами и пользователями.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Таким образом, цель курсового проекта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создание функционального и удобного интернет-магазина «ПК»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достигнута. Разработанное веб-приложение демонстрирует работоспособность и соответствует требованиям к современным веб-решениям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В результате все задачи выполнены.</a:t>
            </a:r>
            <a:endParaRPr lang="ru-RU" sz="24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4795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98E05-34FC-52BB-48C9-E7E3B32E9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155765-38D0-035B-C686-7A8EA0E55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5125" y="2766218"/>
            <a:ext cx="6601750" cy="1325563"/>
          </a:xfrm>
        </p:spPr>
        <p:txBody>
          <a:bodyPr/>
          <a:lstStyle/>
          <a:p>
            <a:r>
              <a:rPr lang="ru-RU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Спасибо за внимание!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9D6DDC-EEA4-C78B-3F36-158EF467F629}"/>
              </a:ext>
            </a:extLst>
          </p:cNvPr>
          <p:cNvSpPr txBox="1"/>
          <p:nvPr/>
        </p:nvSpPr>
        <p:spPr>
          <a:xfrm>
            <a:off x="11541379" y="6288656"/>
            <a:ext cx="545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accent1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46874218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</TotalTime>
  <Words>459</Words>
  <Application>Microsoft Office PowerPoint</Application>
  <PresentationFormat>Широкоэкранный</PresentationFormat>
  <Paragraphs>92</Paragraphs>
  <Slides>9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Проектирование базы данных</vt:lpstr>
      <vt:lpstr>Проектирование схемы навигации</vt:lpstr>
      <vt:lpstr>Демонстрация программного продукта</vt:lpstr>
      <vt:lpstr>Вывод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Попов Егор Анатольевич</dc:creator>
  <cp:lastModifiedBy>Попов Егор Анатольевич</cp:lastModifiedBy>
  <cp:revision>7</cp:revision>
  <dcterms:created xsi:type="dcterms:W3CDTF">2026-06-25T02:25:06Z</dcterms:created>
  <dcterms:modified xsi:type="dcterms:W3CDTF">2026-06-25T06:43:14Z</dcterms:modified>
</cp:coreProperties>
</file>